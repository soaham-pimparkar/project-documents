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Noto Sans JP"/>
      <ns0:bold ns1:id="rIdFont23"/>
      <ns0:regular ns1:id="rIdFont24"/>
    </ns0:embeddedFont>
  </ns0:embeddedFontLst>
  <ns0:defaultTextStyle>
    <ns2:defPPr>
      <ns2:defRPr lang="en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d9b9202a-e28a-4550-aaee-8c21c081bc70.fntdata" /><ns0:Relationship Id="rIdFont24" Type="http://schemas.openxmlformats.org/officeDocument/2006/relationships/font" Target="fonts/7dbf1ae5-cab4-40d1-8795-812cdd05048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24375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9552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350" i="0" u="none">
                <a:solidFill>
                  <a:srgbClr val="38BDF8"/>
                </a:solidFill>
                <a:latin typeface="Noto Sans JP"/>
              </a:rPr>
              <a:t>Internal study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76525"/>
            <a:ext cx="114300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3900" i="0" u="none">
                <a:solidFill>
                  <a:srgbClr val="FAFAFA"/>
                </a:solidFill>
                <a:latin typeface="Noto Sans JP"/>
              </a:rPr>
              <a:t>An overview of Physical AI, necessary technologies, and AI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71875"/>
            <a:ext cx="7715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A1A1AA"/>
                </a:solidFill>
                <a:latin typeface="Noto Sans JP"/>
              </a:rPr>
              <a:t>The complete picture, from 3D digital twins to neural networks and foundational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81100"/>
            <a:ext cx="109728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What is Physical AI? (Just the tip of the iceberg)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2438400"/>
            <a:ext cx="55626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18181B"/>
                </a:solidFill>
                <a:latin typeface="Noto Sans JP"/>
              </a:rPr>
              <a:t>AI that understands the real world and moves physically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0" y="295275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6100" y="2971800"/>
            <a:ext cx="4781550" cy="5715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3F3F46"/>
                </a:solidFill>
                <a:latin typeface="Noto Sans JP"/>
              </a:rPr>
              <a:t>Definition: </a:t>
            </a:r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To perceive reality using cameras and sensors and to understand the laws of physics.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367665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3695700"/>
            <a:ext cx="5295900" cy="2857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3F3F46"/>
                </a:solidFill>
                <a:latin typeface="Noto Sans JP"/>
              </a:rPr>
              <a:t>Medical field: </a:t>
            </a:r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Automation of surgical support and in-hospital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411480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4133850"/>
            <a:ext cx="5295900" cy="2857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3F3F46"/>
                </a:solidFill>
                <a:latin typeface="Noto Sans JP"/>
              </a:rPr>
              <a:t>Space control: </a:t>
            </a:r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Automatically adjusts air conditioning and power consumption based on temperature and airflow.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455295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572000"/>
            <a:ext cx="4781550" cy="5715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3F3F46"/>
                </a:solidFill>
                <a:latin typeface="Noto Sans JP"/>
              </a:rPr>
              <a:t>Infrastructure: </a:t>
            </a:r>
            <a:r xmlns:a="http://schemas.openxmlformats.org/drawingml/2006/main">
              <a:rPr b="0" sz="1650" i="0" u="none">
                <a:solidFill>
                  <a:srgbClr val="3F3F46"/>
                </a:solidFill>
                <a:latin typeface="Noto Sans JP"/>
              </a:rPr>
              <a:t>Physical forecasts of global weather and urban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95662"/>
            <a:ext cx="3048000" cy="1666875"/>
          </a:xfrm>
          <a:prstGeom prst="roundRect">
            <a:avLst>
              <a:gd name="adj" fmla="val 685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3395662"/>
            <a:ext cx="3048000" cy="1666875"/>
          </a:xfrm>
          <a:prstGeom prst="roundRect">
            <a:avLst>
              <a:gd name="adj" fmla="val 685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34400" y="3286125"/>
            <a:ext cx="3048000" cy="1885950"/>
          </a:xfrm>
          <a:prstGeom prst="roundRect">
            <a:avLst>
              <a:gd name="adj" fmla="val 606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0005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40005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Presentation structure: Explain all technologies using one concrete example.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04900"/>
            <a:ext cx="11068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650" i="0" u="none">
                <a:solidFill>
                  <a:srgbClr val="52525B"/>
                </a:solidFill>
                <a:latin typeface="Noto Sans JP"/>
              </a:rPr>
              <a:t>A project to "create a digital twin of a customer's factory and operate an AMR (Autonomous Mobile Robot) within it" was used as a common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38562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200" i="0" u="none">
                <a:solidFill>
                  <a:srgbClr val="2563EB"/>
                </a:solidFill>
                <a:latin typeface="Noto Sans JP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014787"/>
            <a:ext cx="33004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950" i="0" u="none">
                <a:solidFill>
                  <a:srgbClr val="18181B"/>
                </a:solidFill>
                <a:latin typeface="Noto Sans JP"/>
              </a:rPr>
              <a:t>Building a Digital 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462462"/>
            <a:ext cx="3143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Virtual Recreation of Factory Space and AMR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8700" y="3738562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200" i="0" u="none">
                <a:solidFill>
                  <a:srgbClr val="2563EB"/>
                </a:solidFill>
                <a:latin typeface="Noto Sans JP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8700" y="4014787"/>
            <a:ext cx="33004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950" i="0" u="none">
                <a:solidFill>
                  <a:srgbClr val="18181B"/>
                </a:solidFill>
                <a:latin typeface="Noto Sans JP"/>
              </a:rPr>
              <a:t>AI fundamentals and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4462462"/>
            <a:ext cx="3143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AMR's Brain Mechanism and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3629025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200" i="0" u="none">
                <a:solidFill>
                  <a:srgbClr val="2563EB"/>
                </a:solidFill>
                <a:latin typeface="Noto Sans JP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3905250"/>
            <a:ext cx="33004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950" i="0" u="none">
                <a:solidFill>
                  <a:srgbClr val="18181B"/>
                </a:solidFill>
                <a:latin typeface="Noto Sans JP"/>
              </a:rPr>
              <a:t>Foundation model and field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4352925"/>
            <a:ext cx="26098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The latest AI and Sim-to-Real on actual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050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686050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86050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Why is a simulator necessary before implementation?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7050"/>
            <a:ext cx="3556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350" i="0" u="none">
                <a:solidFill>
                  <a:srgbClr val="2563EB"/>
                </a:solidFill>
                <a:latin typeface="Noto Sans JP"/>
              </a:rPr>
              <a:t>Reason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9950"/>
            <a:ext cx="373386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100" i="0" u="none">
                <a:solidFill>
                  <a:srgbClr val="18181B"/>
                </a:solidFill>
                <a:latin typeface="Noto Sans JP"/>
              </a:rPr>
              <a:t>Ensuring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2430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3F3F46"/>
                </a:solidFill>
                <a:latin typeface="Noto Sans JP"/>
              </a:rPr>
              <a:t>Collision prevention for workers and expensive machinery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49" y="3067050"/>
            <a:ext cx="3556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350" i="0" u="none">
                <a:solidFill>
                  <a:srgbClr val="2563EB"/>
                </a:solidFill>
                <a:latin typeface="Noto Sans JP"/>
              </a:rPr>
              <a:t>Reason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49" y="3409950"/>
            <a:ext cx="373386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100" i="0" u="none">
                <a:solidFill>
                  <a:srgbClr val="18181B"/>
                </a:solidFill>
                <a:latin typeface="Noto Sans JP"/>
              </a:rPr>
              <a:t>Maintaining factory line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92430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3F3F46"/>
                </a:solidFill>
                <a:latin typeface="Noto Sans JP"/>
              </a:rPr>
              <a:t>Avoiding economic losses due to line stoppages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99" y="3067050"/>
            <a:ext cx="3556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350" i="0" u="none">
                <a:solidFill>
                  <a:srgbClr val="2563EB"/>
                </a:solidFill>
                <a:latin typeface="Noto Sans JP"/>
              </a:rPr>
              <a:t>Reason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09950"/>
            <a:ext cx="373386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100" i="0" u="none">
                <a:solidFill>
                  <a:srgbClr val="18181B"/>
                </a:solidFill>
                <a:latin typeface="Noto Sans JP"/>
              </a:rPr>
              <a:t>Large-scale parallel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92430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3F3F46"/>
                </a:solidFill>
                <a:latin typeface="Noto Sans JP"/>
              </a:rPr>
              <a:t>High-speed convergence due to simultaneous operation of thousands of vehicles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4300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Definition of a digital twin and the process of building a digital twin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277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1E3A8A"/>
                </a:solidFill>
                <a:latin typeface="Noto Sans JP"/>
              </a:rPr>
              <a:t>It's not just a simple 3D model; it reproduces the laws of physics, sensors, and the operating status of workers and other robots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1717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0750"/>
            <a:ext cx="11277600" cy="3048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1. 3D scanning: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Measuring customer factory spaces using drones and 3D scanners.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670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6050"/>
            <a:ext cx="11277600" cy="3048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2. OpenUSD: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Saves 3D spatial data of factories in a common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623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1350"/>
            <a:ext cx="11277600" cy="3048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3. URDF: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Physical structure data for AMR joints and tires is placed within the factory.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576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6650"/>
            <a:ext cx="11277600" cy="3048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4. ROS 2 (DDS / Zenoh):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Connects the virtual AMR and control software via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8037"/>
            <a:ext cx="207466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348037"/>
            <a:ext cx="207466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348037"/>
            <a:ext cx="207466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348037"/>
            <a:ext cx="207466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Ecosystem 1: NVIDIA Physical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28700"/>
            <a:ext cx="115824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The Role of Each Tool in Factory Digital Twin and AMR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671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18181B"/>
                </a:solidFill>
                <a:latin typeface="Noto Sans JP"/>
              </a:rPr>
              <a:t>Omniverse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48137"/>
            <a:ext cx="2209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425" i="0" u="none">
                <a:solidFill>
                  <a:srgbClr val="3F3F46"/>
                </a:solidFill>
                <a:latin typeface="Noto Sans JP"/>
              </a:rPr>
              <a:t>OpenUSD-based foundation for 3D space and physics calculations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7671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18181B"/>
                </a:solidFill>
                <a:latin typeface="Noto Sans JP"/>
              </a:rPr>
              <a:t>Isaac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148137"/>
            <a:ext cx="2209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425" i="0" u="none">
                <a:solidFill>
                  <a:srgbClr val="3F3F46"/>
                </a:solidFill>
                <a:latin typeface="Noto Sans JP"/>
              </a:rPr>
              <a:t>Virtual sensor integration into AMR and ROS 2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7671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18181B"/>
                </a:solidFill>
                <a:latin typeface="Noto Sans JP"/>
              </a:rPr>
              <a:t>Isaac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148137"/>
            <a:ext cx="2209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425" i="0" u="none">
                <a:solidFill>
                  <a:srgbClr val="3F3F46"/>
                </a:solidFill>
                <a:latin typeface="Noto Sans JP"/>
              </a:rPr>
              <a:t>AI training using thousands of AMRs operating simultaneously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7671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18181B"/>
                </a:solidFill>
                <a:latin typeface="Noto Sans JP"/>
              </a:rPr>
              <a:t>Cosmos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148137"/>
            <a:ext cx="2209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425" i="0" u="none">
                <a:solidFill>
                  <a:srgbClr val="3F3F46"/>
                </a:solidFill>
                <a:latin typeface="Noto Sans JP"/>
              </a:rPr>
              <a:t>Realistic environmental image generation using a global infrastructure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9862"/>
            <a:ext cx="4663380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Ecosystem 2: Unity Physical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3090862"/>
            <a:ext cx="4876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350" i="0" u="none">
                <a:solidFill>
                  <a:srgbClr val="2563EB"/>
                </a:solidFill>
                <a:latin typeface="Noto Sans JP"/>
              </a:rPr>
              <a:t>Unity's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433762"/>
            <a:ext cx="5120561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250" i="0" u="none">
                <a:solidFill>
                  <a:srgbClr val="18181B"/>
                </a:solidFill>
                <a:latin typeface="Noto Sans JP"/>
              </a:rPr>
              <a:t>Lightweight operation and high operability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976687"/>
            <a:ext cx="399663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Ideal for building factory management screens (UI) and VR remote control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0680" y="265747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725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6880" y="2676525"/>
            <a:ext cx="5680769" cy="5905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725" i="0" u="none">
                <a:solidFill>
                  <a:srgbClr val="27272A"/>
                </a:solidFill>
                <a:latin typeface="Noto Sans JP"/>
              </a:rPr>
              <a:t>Unity Engine: </a:t>
            </a:r>
            <a:r xmlns:a="http://schemas.openxmlformats.org/drawingml/2006/main">
              <a:rPr b="0" sz="1725" i="0" u="none">
                <a:solidFill>
                  <a:srgbClr val="27272A"/>
                </a:solidFill>
                <a:latin typeface="Noto Sans JP"/>
              </a:rPr>
              <a:t>Execution and management of 3D factory spaces, and creation of dashboards and VR operation screens.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680" y="347662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725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880" y="3495675"/>
            <a:ext cx="5680769" cy="5905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725" i="0" u="none">
                <a:solidFill>
                  <a:srgbClr val="27272A"/>
                </a:solidFill>
                <a:latin typeface="Noto Sans JP"/>
              </a:rPr>
              <a:t>Unity Simulation Pro: </a:t>
            </a:r>
            <a:r xmlns:a="http://schemas.openxmlformats.org/drawingml/2006/main">
              <a:rPr b="0" sz="1725" i="0" u="none">
                <a:solidFill>
                  <a:srgbClr val="27272A"/>
                </a:solidFill>
                <a:latin typeface="Noto Sans JP"/>
              </a:rPr>
              <a:t>URDF loading, LiDAR and other sensor simulation, ROS 2 high-speed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680" y="429577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725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6880" y="4314825"/>
            <a:ext cx="5680769" cy="5905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725" i="0" u="none">
                <a:solidFill>
                  <a:srgbClr val="27272A"/>
                </a:solidFill>
                <a:latin typeface="Noto Sans JP"/>
              </a:rPr>
              <a:t>ML-Agents &amp; Sentis: </a:t>
            </a:r>
            <a:r xmlns:a="http://schemas.openxmlformats.org/drawingml/2006/main">
              <a:rPr b="0" sz="1725" i="0" u="none">
                <a:solidFill>
                  <a:srgbClr val="27272A"/>
                </a:solidFill>
                <a:latin typeface="Noto Sans JP"/>
              </a:rPr>
              <a:t>AI agent training environment and direct execution of trained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Hierarchical structure of AI, machine learning, and deep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Three specific examples of learning methods in factory AMRs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5717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90800"/>
            <a:ext cx="10763250" cy="6096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Supervised learning (with correct answers): The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system learns from tens of thousands of factory photos labeled "people" and "forklifts" and uses a camera to recognize obstacles.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861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05200"/>
            <a:ext cx="10763250" cy="6096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Unsupervised learning (no correct answers):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Automatically groups "precursors to failure (abnormal patterns)" from AMR motor sound and vibration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005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19600"/>
            <a:ext cx="10763250" cy="6096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Reinforcement learning (trial and error):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Within the digital twin, rewards such as "+10 points for reaching the destination" and "-50 points for crashing into a wall" are given to learn how to drive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10075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4410075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How neural networks work: A single neuron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Mimicking the nerve cells (neurons) of the human brain, each neuron is composed of two numerical values: "weight" and "bias."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638675"/>
            <a:ext cx="6400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18181B"/>
                </a:solidFill>
                <a:latin typeface="Noto Sans JP"/>
              </a:rPr>
              <a:t>Weight (w): Importance of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00625"/>
            <a:ext cx="4972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425" i="0" u="none">
                <a:solidFill>
                  <a:srgbClr val="3F3F46"/>
                </a:solidFill>
                <a:latin typeface="Noto Sans JP"/>
              </a:rPr>
              <a:t>The ceiling color is irrelevant, so it's set small (0.01), while the person 1m in front is important, so it's set large (0.99).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638675"/>
            <a:ext cx="5715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650" i="0" u="none">
                <a:solidFill>
                  <a:srgbClr val="18181B"/>
                </a:solidFill>
                <a:latin typeface="Noto Sans JP"/>
              </a:rPr>
              <a:t>Bias (b): Response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5000625"/>
            <a:ext cx="4972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425" i="0" u="none">
                <a:solidFill>
                  <a:srgbClr val="3F3F46"/>
                </a:solidFill>
                <a:latin typeface="Noto Sans JP"/>
              </a:rPr>
              <a:t>The basic summation value that determines how responsive that neuron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Learning loop: Forward propagation, loss function, 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28700"/>
            <a:ext cx="115824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The process of gradually rewriting the weights and biases of billions of neurons to converge them to the correct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33625"/>
            <a:ext cx="5257800" cy="2962275"/>
          </a:xfrm>
          <a:prstGeom prst="roundRect">
            <a:avLst>
              <a:gd name="adj" fmla="val 38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185987"/>
            <a:ext cx="5257800" cy="3257550"/>
          </a:xfrm>
          <a:prstGeom prst="roundRect">
            <a:avLst>
              <a:gd name="adj" fmla="val 350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Learning challenges and transfer learning/fine-tuning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676525"/>
            <a:ext cx="490061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DC2626"/>
                </a:solidFill>
                <a:latin typeface="Noto Sans JP"/>
              </a:rPr>
              <a:t>Two problems that occur in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528887"/>
            <a:ext cx="490061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1D4ED8"/>
                </a:solidFill>
                <a:latin typeface="Noto Sans JP"/>
              </a:rPr>
              <a:t>Practical solutions (customer implementation flow)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205162"/>
            <a:ext cx="66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75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248025"/>
            <a:ext cx="4438650" cy="5905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575" i="0" u="none">
                <a:solidFill>
                  <a:srgbClr val="27272A"/>
                </a:solidFill>
                <a:latin typeface="Noto Sans JP"/>
              </a:rPr>
              <a:t>Underfitting: Insufficient </a:t>
            </a:r>
            <a:r xmlns:a="http://schemas.openxmlformats.org/drawingml/2006/main">
              <a:rPr b="0" sz="1575" i="0" u="none">
                <a:solidFill>
                  <a:srgbClr val="27272A"/>
                </a:solidFill>
                <a:latin typeface="Noto Sans JP"/>
              </a:rPr>
              <a:t>training has resulted in the inability to drive straight even within the simulator.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024312"/>
            <a:ext cx="66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75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067175"/>
            <a:ext cx="4438650" cy="88582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575" i="0" u="none">
                <a:solidFill>
                  <a:srgbClr val="27272A"/>
                </a:solidFill>
                <a:latin typeface="Noto Sans JP"/>
              </a:rPr>
              <a:t>Overfitting: </a:t>
            </a:r>
            <a:r xmlns:a="http://schemas.openxmlformats.org/drawingml/2006/main">
              <a:rPr b="0" sz="1575" i="0" u="none">
                <a:solidFill>
                  <a:srgbClr val="27272A"/>
                </a:solidFill>
                <a:latin typeface="Noto Sans JP"/>
              </a:rPr>
              <a:t>A condition where a model memorizes the wall colors and box locations of a training factory, and then becomes unable to move when the lighting changes in a real factory.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3057525"/>
            <a:ext cx="66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75" i="0" u="none">
                <a:solidFill>
                  <a:srgbClr val="1E3A8A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3100387"/>
            <a:ext cx="4438650" cy="88582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575" i="0" u="none">
                <a:solidFill>
                  <a:srgbClr val="1E3A8A"/>
                </a:solidFill>
                <a:latin typeface="Noto Sans JP"/>
              </a:rPr>
              <a:t>Transfer Learning: </a:t>
            </a:r>
            <a:r xmlns:a="http://schemas.openxmlformats.org/drawingml/2006/main">
              <a:rPr b="0" sz="1575" i="0" u="none">
                <a:solidFill>
                  <a:srgbClr val="1E3A8A"/>
                </a:solidFill>
                <a:latin typeface="Noto Sans JP"/>
              </a:rPr>
              <a:t>Instead of building from scratch, the foundation is pre-trained using a digital twin of a typical factory.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4171950"/>
            <a:ext cx="66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75" i="0" u="none">
                <a:solidFill>
                  <a:srgbClr val="1E3A8A"/>
                </a:solidFill>
                <a:latin typeface="Noto Sans JP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4214812"/>
            <a:ext cx="4438650" cy="88582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575" i="0" u="none">
                <a:solidFill>
                  <a:srgbClr val="1E3A8A"/>
                </a:solidFill>
                <a:latin typeface="Noto Sans JP"/>
              </a:rPr>
              <a:t>Fine-tuning: </a:t>
            </a:r>
            <a:r xmlns:a="http://schemas.openxmlformats.org/drawingml/2006/main">
              <a:rPr b="0" sz="1575" i="0" u="none">
                <a:solidFill>
                  <a:srgbClr val="1E3A8A"/>
                </a:solidFill>
                <a:latin typeface="Noto Sans JP"/>
              </a:rPr>
              <a:t>Final weight adjustments are made using small amounts of customer-specific factory-specific data (such as package shape and floor color) to build the system quickly.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Foundational models for physical AI: Evolutionary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90600"/>
            <a:ext cx="115824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500" i="0" u="none">
                <a:solidFill>
                  <a:srgbClr val="52525B"/>
                </a:solidFill>
                <a:latin typeface="Noto Sans JP"/>
              </a:rPr>
              <a:t>The shift from small AIs for individual tasks to one large, general-purpose "robot brain."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2400" i="0" u="none">
                <a:solidFill>
                  <a:srgbClr val="18181B"/>
                </a:solidFill>
                <a:latin typeface="Noto Sans JP"/>
              </a:rPr>
              <a:t>World Foundation Model (WFM) and Synthetic Video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43000"/>
            <a:ext cx="11582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650" i="0" u="none">
                <a:solidFill>
                  <a:srgbClr val="52525B"/>
                </a:solidFill>
                <a:latin typeface="Noto Sans JP"/>
              </a:rPr>
              <a:t>An AI that learns from tens of millions of hours of real-world video to understand the "physical rules of the world," such as gravity, friction, and the movement of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7145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3550"/>
            <a:ext cx="11277600" cy="3048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1. Predicting the future: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Before taking action, mentally simulate whether pushing this load will cause it to collapse.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860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5050"/>
            <a:ext cx="10763250" cy="6096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2. Generating Synthetic Videos (NVIDIA Cosmos):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Automatically generates realistic training videos from simple 3D factory videos, including scenarios like "rainy days," "dark nights," and "dirty floors."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623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1350"/>
            <a:ext cx="11277600" cy="3048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xmlns:a="http://schemas.openxmlformats.org/drawingml/2006/main" algn="l"/>
            <a:r xmlns:a="http://schemas.openxmlformats.org/drawingml/2006/main">
              <a:rPr b="1" sz="1800" i="0" u="none">
                <a:solidFill>
                  <a:srgbClr val="27272A"/>
                </a:solidFill>
                <a:latin typeface="Noto Sans JP"/>
              </a:rPr>
              <a:t>Unlimited expansion of training data: </a:t>
            </a:r>
            <a:r xmlns:a="http://schemas.openxmlformats.org/drawingml/2006/main">
              <a:rPr b="0" sz="1800" i="0" u="none">
                <a:solidFill>
                  <a:srgbClr val="27272A"/>
                </a:solidFill>
                <a:latin typeface="Noto Sans JP"/>
              </a:rPr>
              <a:t>Create a large amount of diverse environmental data without actually photographing in a factory.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195762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95950" y="1957387"/>
            <a:ext cx="800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b="1" sz="1350" i="0" u="none">
                <a:solidFill>
                  <a:srgbClr val="38BDF8"/>
                </a:solidFill>
                <a:latin typeface="Noto Sans JP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9361" y="2338387"/>
            <a:ext cx="9713128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b="1" sz="3000" i="0" u="none">
                <a:solidFill>
                  <a:srgbClr val="FAFAFA"/>
                </a:solidFill>
                <a:latin typeface="Noto Sans JP"/>
              </a:rPr>
              <a:t>Understanding the overall picture and toolset of the Physical AI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128962"/>
            <a:ext cx="10715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b="0" sz="1800" i="0" u="none">
                <a:solidFill>
                  <a:srgbClr val="D4D4D8"/>
                </a:solidFill>
                <a:latin typeface="Noto Sans JP"/>
              </a:rPr>
              <a:t>By sharing fundamental knowledge about "what tools and AI technologies are available," we aim to create a system where new projects can be smoothly launched by selecting the most suitable technologies.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4538662"/>
            <a:ext cx="6477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b="1" sz="2100" i="0" u="none">
                <a:solidFill>
                  <a:srgbClr val="FAFAFA"/>
                </a:solidFill>
                <a:latin typeface="Noto Sans JP"/>
              </a:rPr>
              <a:t>Thank you for your attention. (Question and Answer Session)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