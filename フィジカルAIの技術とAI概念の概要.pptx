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1" r:id="rId17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Noto Sans JP" panose="020B0200000000000000" pitchFamily="34" charset="-128"/>
      <p:regular r:id="rId22"/>
      <p:bold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58" y="43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524375"/>
            <a:ext cx="6096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2295525"/>
            <a:ext cx="1143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Noto Sans JP"/>
              </a:rPr>
              <a:t>社内勉強会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676525"/>
            <a:ext cx="11430000" cy="666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900" b="1" i="0" u="none">
                <a:solidFill>
                  <a:srgbClr val="FAFAFA"/>
                </a:solidFill>
                <a:latin typeface="Noto Sans JP"/>
              </a:rPr>
              <a:t>Physical AIと必要な技術・AI概念の概要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571875"/>
            <a:ext cx="77152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A1A1AA"/>
                </a:solidFill>
                <a:latin typeface="Noto Sans JP"/>
              </a:rPr>
              <a:t>3Dデジタルツインからニューラルネットワーク・基盤モデルまでの全体像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81100"/>
            <a:ext cx="10972800" cy="5219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8181B"/>
                </a:solidFill>
                <a:latin typeface="Noto Sans JP"/>
              </a:rPr>
              <a:t>Physical AIとは何か（氷山の一角）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2438400"/>
            <a:ext cx="55626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8181B"/>
                </a:solidFill>
                <a:latin typeface="Noto Sans JP"/>
              </a:rPr>
              <a:t>現実世界を理解し物理的に動くAI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9900" y="2952750"/>
            <a:ext cx="762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F3F46"/>
                </a:solidFill>
                <a:latin typeface="Noto Sans JP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96100" y="2971800"/>
            <a:ext cx="4781550" cy="57150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F3F46"/>
                </a:solidFill>
                <a:latin typeface="Noto Sans JP"/>
              </a:rPr>
              <a:t>定義：</a:t>
            </a:r>
            <a:r>
              <a:rPr sz="1650" b="0" i="0" u="none">
                <a:solidFill>
                  <a:srgbClr val="3F3F46"/>
                </a:solidFill>
                <a:latin typeface="Noto Sans JP"/>
              </a:rPr>
              <a:t>カメラやセンサーで現実を認識し物理法則を理解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9900" y="3676650"/>
            <a:ext cx="762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F3F46"/>
                </a:solidFill>
                <a:latin typeface="Noto Sans JP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96100" y="3695700"/>
            <a:ext cx="5295900" cy="28575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F3F46"/>
                </a:solidFill>
                <a:latin typeface="Noto Sans JP"/>
              </a:rPr>
              <a:t>医療分野：</a:t>
            </a:r>
            <a:r>
              <a:rPr sz="1650" b="0" i="0" u="none">
                <a:solidFill>
                  <a:srgbClr val="3F3F46"/>
                </a:solidFill>
                <a:latin typeface="Noto Sans JP"/>
              </a:rPr>
              <a:t>手術サポートや病院内検査の自動化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9900" y="4114800"/>
            <a:ext cx="762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F3F46"/>
                </a:solidFill>
                <a:latin typeface="Noto Sans JP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6100" y="4133850"/>
            <a:ext cx="5295900" cy="28575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F3F46"/>
                </a:solidFill>
                <a:latin typeface="Noto Sans JP"/>
              </a:rPr>
              <a:t>空間制御：</a:t>
            </a:r>
            <a:r>
              <a:rPr sz="1650" b="0" i="0" u="none">
                <a:solidFill>
                  <a:srgbClr val="3F3F46"/>
                </a:solidFill>
                <a:latin typeface="Noto Sans JP"/>
              </a:rPr>
              <a:t>温度や気流から空調と電力を自動調整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9900" y="4552950"/>
            <a:ext cx="762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F3F46"/>
                </a:solidFill>
                <a:latin typeface="Noto Sans JP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6100" y="4572000"/>
            <a:ext cx="4781550" cy="57150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F3F46"/>
                </a:solidFill>
                <a:latin typeface="Noto Sans JP"/>
              </a:rPr>
              <a:t>インフラ：</a:t>
            </a:r>
            <a:r>
              <a:rPr sz="1650" b="0" i="0" u="none">
                <a:solidFill>
                  <a:srgbClr val="3F3F46"/>
                </a:solidFill>
                <a:latin typeface="Noto Sans JP"/>
              </a:rPr>
              <a:t>地球規模の気象や都市エネルギーの物理予測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395662"/>
            <a:ext cx="3048000" cy="1666875"/>
          </a:xfrm>
          <a:prstGeom prst="roundRect">
            <a:avLst>
              <a:gd name="adj" fmla="val 6857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0" y="3395662"/>
            <a:ext cx="3048000" cy="1666875"/>
          </a:xfrm>
          <a:prstGeom prst="roundRect">
            <a:avLst>
              <a:gd name="adj" fmla="val 6857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34400" y="3286125"/>
            <a:ext cx="3048000" cy="1885950"/>
          </a:xfrm>
          <a:prstGeom prst="roundRect">
            <a:avLst>
              <a:gd name="adj" fmla="val 606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400050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600" y="4000500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8181B"/>
                </a:solidFill>
                <a:latin typeface="Noto Sans JP"/>
              </a:rPr>
              <a:t>発表の構成：1つの具体例で全技術を解説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104900"/>
            <a:ext cx="110680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52525B"/>
                </a:solidFill>
                <a:latin typeface="Noto Sans JP"/>
              </a:rPr>
              <a:t>「顧客の工場のデジタルツインを作り、その中でAMR（自律移動ロボット）を動かす」プロジェクトを共通例として使用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738562"/>
            <a:ext cx="3143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Noto Sans JP"/>
              </a:rPr>
              <a:t>ステップ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014787"/>
            <a:ext cx="3300412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18181B"/>
                </a:solidFill>
                <a:latin typeface="Noto Sans JP"/>
              </a:rPr>
              <a:t>デジタルツイン構築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462462"/>
            <a:ext cx="31432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52525B"/>
                </a:solidFill>
                <a:latin typeface="Noto Sans JP"/>
              </a:rPr>
              <a:t>工場空間とAMRの仮想再現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8700" y="3738562"/>
            <a:ext cx="3143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Noto Sans JP"/>
              </a:rPr>
              <a:t>ステップ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8700" y="4014787"/>
            <a:ext cx="3300412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18181B"/>
                </a:solidFill>
                <a:latin typeface="Noto Sans JP"/>
              </a:rPr>
              <a:t>AIの基礎と学習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8700" y="4462462"/>
            <a:ext cx="31432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52525B"/>
                </a:solidFill>
                <a:latin typeface="Noto Sans JP"/>
              </a:rPr>
              <a:t>AMRの頭脳の仕組みと訓練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1100" y="3629025"/>
            <a:ext cx="3143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Noto Sans JP"/>
              </a:rPr>
              <a:t>ステップ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3905250"/>
            <a:ext cx="3300412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18181B"/>
                </a:solidFill>
                <a:latin typeface="Noto Sans JP"/>
              </a:rPr>
              <a:t>基盤モデルと現場導入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1100" y="4352925"/>
            <a:ext cx="26098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52525B"/>
                </a:solidFill>
                <a:latin typeface="Noto Sans JP"/>
              </a:rPr>
              <a:t>最新AIと実機へのSim-to-Real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86050"/>
            <a:ext cx="3454449" cy="213360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686050"/>
            <a:ext cx="3454449" cy="213360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2686050"/>
            <a:ext cx="3454449" cy="213360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8181B"/>
                </a:solidFill>
                <a:latin typeface="Noto Sans JP"/>
              </a:rPr>
              <a:t>なぜ導入前にシミュレータが必要なのか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7050"/>
            <a:ext cx="35560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Noto Sans JP"/>
              </a:rPr>
              <a:t>理由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09950"/>
            <a:ext cx="3733865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8181B"/>
                </a:solidFill>
                <a:latin typeface="Noto Sans JP"/>
              </a:rPr>
              <a:t>安全性の確保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24300"/>
            <a:ext cx="294009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F3F46"/>
                </a:solidFill>
                <a:latin typeface="Noto Sans JP"/>
              </a:rPr>
              <a:t>作業員や高価な機械との衝突防止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649" y="3067050"/>
            <a:ext cx="35560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Noto Sans JP"/>
              </a:rPr>
              <a:t>理由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3649" y="3409950"/>
            <a:ext cx="3733865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8181B"/>
                </a:solidFill>
                <a:latin typeface="Noto Sans JP"/>
              </a:rPr>
              <a:t>工場ラインの稼働維持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649" y="3924300"/>
            <a:ext cx="294009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F3F46"/>
                </a:solidFill>
                <a:latin typeface="Noto Sans JP"/>
              </a:rPr>
              <a:t>ライン停止による経済的損失の回避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2899" y="3067050"/>
            <a:ext cx="35560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Noto Sans JP"/>
              </a:rPr>
              <a:t>理由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2899" y="3409950"/>
            <a:ext cx="3733865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8181B"/>
                </a:solidFill>
                <a:latin typeface="Noto Sans JP"/>
              </a:rPr>
              <a:t>大規模な並列テスト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2899" y="3924300"/>
            <a:ext cx="294009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F3F46"/>
                </a:solidFill>
                <a:latin typeface="Noto Sans JP"/>
              </a:rPr>
              <a:t>数千台の同時走行による高速収束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143000"/>
            <a:ext cx="10972800" cy="742950"/>
          </a:xfrm>
          <a:prstGeom prst="roundRect">
            <a:avLst>
              <a:gd name="adj" fmla="val 1025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8181B"/>
                </a:solidFill>
                <a:latin typeface="Noto Sans JP"/>
              </a:rPr>
              <a:t>デジタルツインの定義とプロジェクト構築の流れ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12776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Noto Sans JP"/>
              </a:rPr>
              <a:t>単なる3Dモデルではなく、物理法則・センサー・作業員や他ロボットの稼働状況をリアルタイムに再現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171700"/>
            <a:ext cx="762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0750"/>
            <a:ext cx="11277600" cy="30480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7272A"/>
                </a:solidFill>
                <a:latin typeface="Noto Sans JP"/>
              </a:rPr>
              <a:t>1. 3Dスキャン：</a:t>
            </a:r>
            <a:r>
              <a:rPr sz="1800" b="0" i="0" u="none">
                <a:solidFill>
                  <a:srgbClr val="27272A"/>
                </a:solidFill>
                <a:latin typeface="Noto Sans JP"/>
              </a:rPr>
              <a:t>ドローンや3Dスキャナーで顧客の工場空間を計測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667000"/>
            <a:ext cx="762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86050"/>
            <a:ext cx="11277600" cy="30480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7272A"/>
                </a:solidFill>
                <a:latin typeface="Noto Sans JP"/>
              </a:rPr>
              <a:t>2. OpenUSD：</a:t>
            </a:r>
            <a:r>
              <a:rPr sz="1800" b="0" i="0" u="none">
                <a:solidFill>
                  <a:srgbClr val="27272A"/>
                </a:solidFill>
                <a:latin typeface="Noto Sans JP"/>
              </a:rPr>
              <a:t>工場の3D空間データを共通フォーマットで保存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162300"/>
            <a:ext cx="762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81350"/>
            <a:ext cx="11277600" cy="30480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7272A"/>
                </a:solidFill>
                <a:latin typeface="Noto Sans JP"/>
              </a:rPr>
              <a:t>3. URDF：</a:t>
            </a:r>
            <a:r>
              <a:rPr sz="1800" b="0" i="0" u="none">
                <a:solidFill>
                  <a:srgbClr val="27272A"/>
                </a:solidFill>
                <a:latin typeface="Noto Sans JP"/>
              </a:rPr>
              <a:t>AMRの関節やタイヤの物理構造データを工場内に配置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657600"/>
            <a:ext cx="762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76650"/>
            <a:ext cx="11277600" cy="30480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7272A"/>
                </a:solidFill>
                <a:latin typeface="Noto Sans JP"/>
              </a:rPr>
              <a:t>4. ROS 2 (DDS / Zenoh)：</a:t>
            </a:r>
            <a:r>
              <a:rPr sz="1800" b="0" i="0" u="none">
                <a:solidFill>
                  <a:srgbClr val="27272A"/>
                </a:solidFill>
                <a:latin typeface="Noto Sans JP"/>
              </a:rPr>
              <a:t>仮想AMRと制御ソフトウェアを通信で接続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43237"/>
            <a:ext cx="2571750" cy="19050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3043237"/>
            <a:ext cx="2571750" cy="19050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3043237"/>
            <a:ext cx="2571750" cy="19050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3043237"/>
            <a:ext cx="2571750" cy="19050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48037"/>
            <a:ext cx="207466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3348037"/>
            <a:ext cx="207466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3348037"/>
            <a:ext cx="207466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0" y="3348037"/>
            <a:ext cx="207466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8181B"/>
                </a:solidFill>
                <a:latin typeface="Noto Sans JP"/>
              </a:rPr>
              <a:t>エコシステム1：NVIDIA Physical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028700"/>
            <a:ext cx="115824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52525B"/>
                </a:solidFill>
                <a:latin typeface="Noto Sans JP"/>
              </a:rPr>
              <a:t>工場デジタルツインとAMR開発における各ツールの役割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767137"/>
            <a:ext cx="277534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8181B"/>
                </a:solidFill>
                <a:latin typeface="Noto Sans JP"/>
              </a:rPr>
              <a:t>Omniverse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148137"/>
            <a:ext cx="22098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F3F46"/>
                </a:solidFill>
                <a:latin typeface="Noto Sans JP"/>
              </a:rPr>
              <a:t>OpenUSDベースの3D空間と物理計算の土台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767137"/>
            <a:ext cx="277534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8181B"/>
                </a:solidFill>
                <a:latin typeface="Noto Sans JP"/>
              </a:rPr>
              <a:t>Isaac Sim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4148137"/>
            <a:ext cx="22098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F3F46"/>
                </a:solidFill>
                <a:latin typeface="Noto Sans JP"/>
              </a:rPr>
              <a:t>AMRへの仮想センサー搭載とROS 2通信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3767137"/>
            <a:ext cx="277534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8181B"/>
                </a:solidFill>
                <a:latin typeface="Noto Sans JP"/>
              </a:rPr>
              <a:t>Isaac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4148137"/>
            <a:ext cx="22098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F3F46"/>
                </a:solidFill>
                <a:latin typeface="Noto Sans JP"/>
              </a:rPr>
              <a:t>数千台のAMR同時稼働によるAI訓練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0" y="3767137"/>
            <a:ext cx="277534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8181B"/>
                </a:solidFill>
                <a:latin typeface="Noto Sans JP"/>
              </a:rPr>
              <a:t>Cosmos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0" y="4148137"/>
            <a:ext cx="22098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F3F46"/>
                </a:solidFill>
                <a:latin typeface="Noto Sans JP"/>
              </a:rPr>
              <a:t>世界基盤モデルによるリアルな環境映像生成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09862"/>
            <a:ext cx="4663380" cy="2162175"/>
          </a:xfrm>
          <a:prstGeom prst="roundRect">
            <a:avLst>
              <a:gd name="adj" fmla="val 528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8181B"/>
                </a:solidFill>
                <a:latin typeface="Noto Sans JP"/>
              </a:rPr>
              <a:t>エコシステム2：Unity Physical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3090862"/>
            <a:ext cx="48767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Noto Sans JP"/>
              </a:rPr>
              <a:t>Unityの強み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3433762"/>
            <a:ext cx="5120561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18181B"/>
                </a:solidFill>
                <a:latin typeface="Noto Sans JP"/>
              </a:rPr>
              <a:t>軽量な動作と高い操作性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3976687"/>
            <a:ext cx="399663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52525B"/>
                </a:solidFill>
                <a:latin typeface="Noto Sans JP"/>
              </a:rPr>
              <a:t>工場の管理画面（UI）やVR遠隔操作の構築に最適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20680" y="2657475"/>
            <a:ext cx="762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5" b="0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6880" y="2676525"/>
            <a:ext cx="5680769" cy="5905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/>
            <a:r>
              <a:rPr sz="1725" b="1" i="0" u="none">
                <a:solidFill>
                  <a:srgbClr val="27272A"/>
                </a:solidFill>
                <a:latin typeface="Noto Sans JP"/>
              </a:rPr>
              <a:t>Unity Engine：</a:t>
            </a:r>
            <a:r>
              <a:rPr sz="1725" b="0" i="0" u="none">
                <a:solidFill>
                  <a:srgbClr val="27272A"/>
                </a:solidFill>
                <a:latin typeface="Noto Sans JP"/>
              </a:rPr>
              <a:t>工場の3D空間の実行と管理ダッシュボード・VR操作画面の構築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680" y="3476625"/>
            <a:ext cx="762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5" b="0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880" y="3495675"/>
            <a:ext cx="5680769" cy="5905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/>
            <a:r>
              <a:rPr sz="1725" b="1" i="0" u="none">
                <a:solidFill>
                  <a:srgbClr val="27272A"/>
                </a:solidFill>
                <a:latin typeface="Noto Sans JP"/>
              </a:rPr>
              <a:t>Unity Simulation Pro：</a:t>
            </a:r>
            <a:r>
              <a:rPr sz="1725" b="0" i="0" u="none">
                <a:solidFill>
                  <a:srgbClr val="27272A"/>
                </a:solidFill>
                <a:latin typeface="Noto Sans JP"/>
              </a:rPr>
              <a:t>URDFの読み込み・LiDAR等のセンサー再現・ROS 2高速通信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0680" y="4295775"/>
            <a:ext cx="762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25" b="0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6880" y="4314825"/>
            <a:ext cx="5680769" cy="59055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/>
            <a:r>
              <a:rPr sz="1725" b="1" i="0" u="none">
                <a:solidFill>
                  <a:srgbClr val="27272A"/>
                </a:solidFill>
                <a:latin typeface="Noto Sans JP"/>
              </a:rPr>
              <a:t>ML-Agents &amp; Sentis：</a:t>
            </a:r>
            <a:r>
              <a:rPr sz="1725" b="0" i="0" u="none">
                <a:solidFill>
                  <a:srgbClr val="27272A"/>
                </a:solidFill>
                <a:latin typeface="Noto Sans JP"/>
              </a:rPr>
              <a:t>AIエージェントの学習環境と学習済みモデルの直接実行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8181B"/>
                </a:solidFill>
                <a:latin typeface="Noto Sans JP"/>
              </a:rPr>
              <a:t>AI・機械学習・ディープラーニングの階層構造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8181B"/>
                </a:solidFill>
                <a:latin typeface="Noto Sans JP"/>
              </a:rPr>
              <a:t>工場AMRにおける3つの学習手法の具体例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2571750"/>
            <a:ext cx="762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90800"/>
            <a:ext cx="10763250" cy="60960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7272A"/>
                </a:solidFill>
                <a:latin typeface="Noto Sans JP"/>
              </a:rPr>
              <a:t>教師あり学習（正解あり）：</a:t>
            </a:r>
            <a:r>
              <a:rPr sz="1800" b="0" i="0" u="none">
                <a:solidFill>
                  <a:srgbClr val="27272A"/>
                </a:solidFill>
                <a:latin typeface="Noto Sans JP"/>
              </a:rPr>
              <a:t>「人」「フォークリフト」と名前を付けた数万枚の工場写真を学習しカメラで障害物を認識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486150"/>
            <a:ext cx="762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05200"/>
            <a:ext cx="10763250" cy="60960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7272A"/>
                </a:solidFill>
                <a:latin typeface="Noto Sans JP"/>
              </a:rPr>
              <a:t>教師なし学習（正解なし）：</a:t>
            </a:r>
            <a:r>
              <a:rPr sz="1800" b="0" i="0" u="none">
                <a:solidFill>
                  <a:srgbClr val="27272A"/>
                </a:solidFill>
                <a:latin typeface="Noto Sans JP"/>
              </a:rPr>
              <a:t>AMRのモーター音や振動データから「故障の前触れ（異常パターン）」を自動でグループ分け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400550"/>
            <a:ext cx="762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19600"/>
            <a:ext cx="10763250" cy="60960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7272A"/>
                </a:solidFill>
                <a:latin typeface="Noto Sans JP"/>
              </a:rPr>
              <a:t>強化学習（試行錯誤）：</a:t>
            </a:r>
            <a:r>
              <a:rPr sz="1800" b="0" i="0" u="none">
                <a:solidFill>
                  <a:srgbClr val="27272A"/>
                </a:solidFill>
                <a:latin typeface="Noto Sans JP"/>
              </a:rPr>
              <a:t>デジタルツイン内で「目的地到着で+10点」「壁に衝突で-50点」の報酬を与え上手な走り方を学習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410075"/>
            <a:ext cx="5334000" cy="1314450"/>
          </a:xfrm>
          <a:prstGeom prst="roundRect">
            <a:avLst>
              <a:gd name="adj" fmla="val 7246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4410075"/>
            <a:ext cx="5334000" cy="1314450"/>
          </a:xfrm>
          <a:prstGeom prst="roundRect">
            <a:avLst>
              <a:gd name="adj" fmla="val 7246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8181B"/>
                </a:solidFill>
                <a:latin typeface="Noto Sans JP"/>
              </a:rPr>
              <a:t>ニューラルネットワークの仕組み：1つのニューロン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04900"/>
            <a:ext cx="115824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52525B"/>
                </a:solidFill>
                <a:latin typeface="Noto Sans JP"/>
              </a:rPr>
              <a:t>人間の脳の神経細胞（ニューロン）を模倣し、1つのニューロンは「重み」と「バイアス」の2つの数値で構成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638675"/>
            <a:ext cx="64008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8181B"/>
                </a:solidFill>
                <a:latin typeface="Noto Sans JP"/>
              </a:rPr>
              <a:t>重み / Weight (w)：情報の重要度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000625"/>
            <a:ext cx="49720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F3F46"/>
                </a:solidFill>
                <a:latin typeface="Noto Sans JP"/>
              </a:rPr>
              <a:t>天井の色は無関係なため小さく（0.01）、前方1mの人は重要なため大きく（0.99）設定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4638675"/>
            <a:ext cx="57150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8181B"/>
                </a:solidFill>
                <a:latin typeface="Noto Sans JP"/>
              </a:rPr>
              <a:t>バイアス / Bias (b)：反応の基準値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5000625"/>
            <a:ext cx="49720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F3F46"/>
                </a:solidFill>
                <a:latin typeface="Noto Sans JP"/>
              </a:rPr>
              <a:t>そのニューロンがどのくらい反応しやすいかを決める基本の足し算数値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8181B"/>
                </a:solidFill>
                <a:latin typeface="Noto Sans JP"/>
              </a:rPr>
              <a:t>学習ループ：順伝播・損失関数・逆伝播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028700"/>
            <a:ext cx="115824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52525B"/>
                </a:solidFill>
                <a:latin typeface="Noto Sans JP"/>
              </a:rPr>
              <a:t>数十億個のニューロンの重みとバイアスを少しずつ書き換え、正しい走行へ収束させるプロセス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33625"/>
            <a:ext cx="5257800" cy="2962275"/>
          </a:xfrm>
          <a:prstGeom prst="roundRect">
            <a:avLst>
              <a:gd name="adj" fmla="val 385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24600" y="2185987"/>
            <a:ext cx="5257800" cy="3257550"/>
          </a:xfrm>
          <a:prstGeom prst="roundRect">
            <a:avLst>
              <a:gd name="adj" fmla="val 3508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8181B"/>
                </a:solidFill>
                <a:latin typeface="Noto Sans JP"/>
              </a:rPr>
              <a:t>学習時の課題と転移学習・ファインチューニング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676525"/>
            <a:ext cx="490061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C2626"/>
                </a:solidFill>
                <a:latin typeface="Noto Sans JP"/>
              </a:rPr>
              <a:t>学習で起こる2つの問題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0" y="2528887"/>
            <a:ext cx="490061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D4ED8"/>
                </a:solidFill>
                <a:latin typeface="Noto Sans JP"/>
              </a:rPr>
              <a:t>実践的な解決策（顧客導入フロー）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425" y="3205162"/>
            <a:ext cx="666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0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3248025"/>
            <a:ext cx="4438650" cy="59055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27272A"/>
                </a:solidFill>
                <a:latin typeface="Noto Sans JP"/>
              </a:rPr>
              <a:t>学習不足 (Underfitting)：</a:t>
            </a:r>
            <a:r>
              <a:rPr sz="1575" b="0" i="0" u="none">
                <a:solidFill>
                  <a:srgbClr val="27272A"/>
                </a:solidFill>
                <a:latin typeface="Noto Sans JP"/>
              </a:rPr>
              <a:t>学習が足りず、シミュレータ内でもまっすぐ走れない状態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425" y="4024312"/>
            <a:ext cx="666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0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4067175"/>
            <a:ext cx="4438650" cy="885825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27272A"/>
                </a:solidFill>
                <a:latin typeface="Noto Sans JP"/>
              </a:rPr>
              <a:t>過学習 (Overfitting)：</a:t>
            </a:r>
            <a:r>
              <a:rPr sz="1575" b="0" i="0" u="none">
                <a:solidFill>
                  <a:srgbClr val="27272A"/>
                </a:solidFill>
                <a:latin typeface="Noto Sans JP"/>
              </a:rPr>
              <a:t>訓練用の工場の壁の色や箱の位置を丸暗記し、実際の工場で照明が変わると動けなくなる状態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9425" y="3057525"/>
            <a:ext cx="666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0" i="0" u="none">
                <a:solidFill>
                  <a:srgbClr val="1E3A8A"/>
                </a:solidFill>
                <a:latin typeface="Noto Sans JP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6100" y="3100387"/>
            <a:ext cx="4438650" cy="885825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E3A8A"/>
                </a:solidFill>
                <a:latin typeface="Noto Sans JP"/>
              </a:rPr>
              <a:t>転移学習 (Transfer Learning)：</a:t>
            </a:r>
            <a:r>
              <a:rPr sz="1575" b="0" i="0" u="none">
                <a:solidFill>
                  <a:srgbClr val="1E3A8A"/>
                </a:solidFill>
                <a:latin typeface="Noto Sans JP"/>
              </a:rPr>
              <a:t>ゼロから作らず、一般的な工場のデジタルツインで基礎を事前学習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9425" y="4171950"/>
            <a:ext cx="666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0" i="0" u="none">
                <a:solidFill>
                  <a:srgbClr val="1E3A8A"/>
                </a:solidFill>
                <a:latin typeface="Noto Sans JP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6100" y="4214812"/>
            <a:ext cx="4438650" cy="885825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E3A8A"/>
                </a:solidFill>
                <a:latin typeface="Noto Sans JP"/>
              </a:rPr>
              <a:t>ファインチューニング：</a:t>
            </a:r>
            <a:r>
              <a:rPr sz="1575" b="0" i="0" u="none">
                <a:solidFill>
                  <a:srgbClr val="1E3A8A"/>
                </a:solidFill>
                <a:latin typeface="Noto Sans JP"/>
              </a:rPr>
              <a:t>顧客の工場固有の少量データ（荷物の形や床の色）で重みを最終調整し短期間で構築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8181B"/>
                </a:solidFill>
                <a:latin typeface="Noto Sans JP"/>
              </a:rPr>
              <a:t>Physical AIの基盤モデル：進化の潮流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90600"/>
            <a:ext cx="115824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52525B"/>
                </a:solidFill>
                <a:latin typeface="Noto Sans JP"/>
              </a:rPr>
              <a:t>個別タスクの小さなAIから、1つの大きな「汎用ロボット脳」への転換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8181B"/>
                </a:solidFill>
                <a:latin typeface="Noto Sans JP"/>
              </a:rPr>
              <a:t>世界基盤モデル（WFM）と合成動画生成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143000"/>
            <a:ext cx="115824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52525B"/>
                </a:solidFill>
                <a:latin typeface="Noto Sans JP"/>
              </a:rPr>
              <a:t>数千万時間の現実動画を学習し、重力・摩擦・物の動きなど「世界の物理ルール」を理解するAI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714500"/>
            <a:ext cx="762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3550"/>
            <a:ext cx="11277600" cy="30480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7272A"/>
                </a:solidFill>
                <a:latin typeface="Noto Sans JP"/>
              </a:rPr>
              <a:t>1. 未来の予測：</a:t>
            </a:r>
            <a:r>
              <a:rPr sz="1800" b="0" i="0" u="none">
                <a:solidFill>
                  <a:srgbClr val="27272A"/>
                </a:solidFill>
                <a:latin typeface="Noto Sans JP"/>
              </a:rPr>
              <a:t>「この荷物を押したら崩れるか」を行動前に頭の中でシミュレーション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286000"/>
            <a:ext cx="762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05050"/>
            <a:ext cx="10763250" cy="60960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7272A"/>
                </a:solidFill>
                <a:latin typeface="Noto Sans JP"/>
              </a:rPr>
              <a:t>2. 合成動画の生成 (NVIDIA Cosmos)：</a:t>
            </a:r>
            <a:r>
              <a:rPr sz="1800" b="0" i="0" u="none">
                <a:solidFill>
                  <a:srgbClr val="27272A"/>
                </a:solidFill>
                <a:latin typeface="Noto Sans JP"/>
              </a:rPr>
              <a:t>シンプルな3D工場動画から「雨の日」「暗い夜間」「汚れた床」など本物そっくりの学習動画を自動生成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162300"/>
            <a:ext cx="762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7272A"/>
                </a:solidFill>
                <a:latin typeface="Noto Sans JP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81350"/>
            <a:ext cx="11277600" cy="30480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7272A"/>
                </a:solidFill>
                <a:latin typeface="Noto Sans JP"/>
              </a:rPr>
              <a:t>学習データの無限拡張：</a:t>
            </a:r>
            <a:r>
              <a:rPr sz="1800" b="0" i="0" u="none">
                <a:solidFill>
                  <a:srgbClr val="27272A"/>
                </a:solidFill>
                <a:latin typeface="Noto Sans JP"/>
              </a:rPr>
              <a:t>実際の工場で撮影せずに多様な環境データを大量に作成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9900"/>
            <a:ext cx="3048000" cy="2085975"/>
          </a:xfrm>
          <a:prstGeom prst="roundRect">
            <a:avLst>
              <a:gd name="adj" fmla="val 5479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0" y="2990850"/>
            <a:ext cx="3048000" cy="2124075"/>
          </a:xfrm>
          <a:prstGeom prst="roundRect">
            <a:avLst>
              <a:gd name="adj" fmla="val 538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534400" y="2990850"/>
            <a:ext cx="3048000" cy="2124075"/>
          </a:xfrm>
          <a:prstGeom prst="roundRect">
            <a:avLst>
              <a:gd name="adj" fmla="val 5381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382428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600" y="3824287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2400" b="1">
                <a:solidFill>
                  <a:srgbClr val="18181B"/>
                </a:solidFill>
                <a:latin typeface="Noto Sans JP"/>
              </a:rPr>
              <a:t>Sim-to-Realの壁と現場へのエッジ実装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104900"/>
            <a:ext cx="115824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500">
                <a:solidFill>
                  <a:srgbClr val="52525B"/>
                </a:solidFill>
                <a:latin typeface="Noto Sans JP"/>
              </a:rPr>
              <a:t>シミュレータは「綺麗すぎる」ため、現実の工場へ移すと動かない課題をどう克服するか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352800"/>
            <a:ext cx="3143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>
                <a:solidFill>
                  <a:srgbClr val="DC2626"/>
                </a:solidFill>
                <a:latin typeface="Noto Sans JP"/>
              </a:rPr>
              <a:t>課題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629025"/>
            <a:ext cx="330041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b="1">
                <a:solidFill>
                  <a:srgbClr val="991B1B"/>
                </a:solidFill>
                <a:latin typeface="Noto Sans JP"/>
              </a:rPr>
              <a:t>Sim-to-Real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010025"/>
            <a:ext cx="260985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25">
                <a:solidFill>
                  <a:srgbClr val="7F1D1D"/>
                </a:solidFill>
                <a:latin typeface="Noto Sans JP"/>
              </a:rPr>
              <a:t>床の油滑り・レンズの光反射・通信遅延による現実とのズレ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8700" y="3333750"/>
            <a:ext cx="3143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Noto Sans JP"/>
              </a:rPr>
              <a:t>解決策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8700" y="3609975"/>
            <a:ext cx="3300412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b="1">
                <a:solidFill>
                  <a:srgbClr val="1E3A8A"/>
                </a:solidFill>
                <a:latin typeface="Noto Sans JP"/>
              </a:rPr>
              <a:t>ドメインランダム化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8700" y="4029075"/>
            <a:ext cx="260985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25">
                <a:solidFill>
                  <a:srgbClr val="1E40AF"/>
                </a:solidFill>
                <a:latin typeface="Noto Sans JP"/>
              </a:rPr>
              <a:t>摩擦・重さ・照明・ノイズを毎回ランダムに変えて強いAIを育成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1100" y="3333750"/>
            <a:ext cx="3143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>
                <a:solidFill>
                  <a:srgbClr val="18181B"/>
                </a:solidFill>
                <a:latin typeface="Noto Sans JP"/>
              </a:rPr>
              <a:t>現場稼働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3609975"/>
            <a:ext cx="3300412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b="1">
                <a:solidFill>
                  <a:srgbClr val="18181B"/>
                </a:solidFill>
                <a:latin typeface="Noto Sans JP"/>
              </a:rPr>
              <a:t>軽量化とエッジ実装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1100" y="4029075"/>
            <a:ext cx="260985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25">
                <a:solidFill>
                  <a:srgbClr val="3F3F46"/>
                </a:solidFill>
                <a:latin typeface="Noto Sans JP"/>
              </a:rPr>
              <a:t>量子化（TensorRT）でモデルを小さくしAMR内のEdge GPUで実行</a:t>
            </a:r>
          </a:p>
        </p:txBody>
      </p:sp>
    </p:spTree>
    <p:extLst>
      <p:ext uri="{BB962C8B-B14F-4D97-AF65-F5344CB8AC3E}">
        <p14:creationId xmlns:p14="http://schemas.microsoft.com/office/powerpoint/2010/main" val="1751166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91200" y="4195762"/>
            <a:ext cx="6096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95950" y="1957387"/>
            <a:ext cx="800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8BDF8"/>
                </a:solidFill>
                <a:latin typeface="Noto Sans JP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9361" y="2338387"/>
            <a:ext cx="9713128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FAFAFA"/>
                </a:solidFill>
                <a:latin typeface="Noto Sans JP"/>
              </a:rPr>
              <a:t>Physical AI領域の全体像とツール群の把握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8187" y="3128962"/>
            <a:ext cx="10715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D4D4D8"/>
                </a:solidFill>
                <a:latin typeface="Noto Sans JP"/>
              </a:rPr>
              <a:t>「どのようなツールやAI技術が使えるか」の基礎知識を共有し、新しいプロジェクトで最適な技術を選んでスムーズにスタートできる体制へ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7500" y="4538662"/>
            <a:ext cx="64770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AFAFA"/>
                </a:solidFill>
                <a:latin typeface="Noto Sans JP"/>
              </a:rPr>
              <a:t>ご清聴ありがとうございました・質疑応答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466</Words>
  <Application>Microsoft Office PowerPoint</Application>
  <PresentationFormat>Widescreen</PresentationFormat>
  <Paragraphs>116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Noto Sans JP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2026-10-21T23:59:34Z</dcterms:modified>
  <cp:category/>
</cp:coreProperties>
</file>